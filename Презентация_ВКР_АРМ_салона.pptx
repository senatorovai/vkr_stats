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ln w="12700">
            <a:solidFill>
              <a:srgbClr val="3A4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676656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6D6E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ВСГУТУ · Факультет компьютерных наук и технологий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0" y="969264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2A4C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Кафедра прикладной информатики, статистики и анализа данных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55648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ВЫПУСКНАЯ КВАЛИФИКАЦИОННАЯ РАБОТА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39696"/>
            <a:ext cx="107286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Проектирование автоматизированного рабочего места</a:t>
            </a:r>
            <a:endParaRPr lang="en-US" sz="3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менеджера салона красоты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731520" y="3785616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6D6EC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(на примере Школы перманентного макияжа «Ли Белекмы»)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47208" y="4334256"/>
            <a:ext cx="1097280" cy="27432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4572000"/>
            <a:ext cx="121916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2A4C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Выполнил(а):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[ФИО автора]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0" y="4919472"/>
            <a:ext cx="121916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2A4C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Руководитель: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[ФИО руководителя]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0" y="5596128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2A4C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Направление 09.03.03 «Прикладная информатика»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0" y="5943600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D6EC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Улан-Удэ ·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АКТУАЛЬНОСТЬ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Зачем малому салону собственный АРМ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6675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572768"/>
            <a:ext cx="82296" cy="960120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769364"/>
            <a:ext cx="566928" cy="566928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743" y="1922435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16916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Учёт «вручную»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527048" y="2057400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записи в мессенджерах, на бумаге и в разрозненных таблицах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683764"/>
            <a:ext cx="6675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6928" y="2683764"/>
            <a:ext cx="82296" cy="960120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13" name="Shape 10"/>
          <p:cNvSpPr/>
          <p:nvPr/>
        </p:nvSpPr>
        <p:spPr>
          <a:xfrm>
            <a:off x="804672" y="2880360"/>
            <a:ext cx="566928" cy="566928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43" y="3033431"/>
            <a:ext cx="260787" cy="26078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27048" y="2802636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Двойные брони и потери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1527048" y="3168396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нет единой картины дня — клиенты и заявки теряются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3794760"/>
            <a:ext cx="6675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66928" y="3794760"/>
            <a:ext cx="82296" cy="960120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19" name="Shape 15"/>
          <p:cNvSpPr/>
          <p:nvPr/>
        </p:nvSpPr>
        <p:spPr>
          <a:xfrm>
            <a:off x="804672" y="3991356"/>
            <a:ext cx="566928" cy="566928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743" y="4144427"/>
            <a:ext cx="260787" cy="26078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527048" y="3913632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Рассинхрон каналов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1527048" y="4279392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WhatsApp, Telegram, бумага и таблица не согласованы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566928" y="4905756"/>
            <a:ext cx="6675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66928" y="4905756"/>
            <a:ext cx="82296" cy="960120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25" name="Shape 20"/>
          <p:cNvSpPr/>
          <p:nvPr/>
        </p:nvSpPr>
        <p:spPr>
          <a:xfrm>
            <a:off x="804672" y="5102352"/>
            <a:ext cx="566928" cy="566928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743" y="5255423"/>
            <a:ext cx="260787" cy="26078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527048" y="5024628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Дорогая CRM избыточна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1527048" y="53903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для салона на 3 мастера полноценная CRM не окупается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7562088" y="1572768"/>
            <a:ext cx="4062679" cy="1325880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7562088" y="1572768"/>
            <a:ext cx="82296" cy="1325880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1" name="Text 25"/>
          <p:cNvSpPr/>
          <p:nvPr/>
        </p:nvSpPr>
        <p:spPr>
          <a:xfrm>
            <a:off x="7699248" y="1664208"/>
            <a:ext cx="37883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08D3E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&gt;50%</a:t>
            </a:r>
            <a:endParaRPr lang="en-US" sz="4400" dirty="0"/>
          </a:p>
        </p:txBody>
      </p:sp>
      <p:sp>
        <p:nvSpPr>
          <p:cNvPr id="32" name="Text 26"/>
          <p:cNvSpPr/>
          <p:nvPr/>
        </p:nvSpPr>
        <p:spPr>
          <a:xfrm>
            <a:off x="7744968" y="2359152"/>
            <a:ext cx="36969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ошибок — из-за рассинхрона каналов записи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8615591" y="2999232"/>
            <a:ext cx="1955673" cy="25648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pic>
        <p:nvPicPr>
          <p:cNvPr id="34" name="Image 4" descr="/Users/m/Documents/VKR_Stats/build/img_final/image5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9599" y="3063240"/>
            <a:ext cx="1827657" cy="2436876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562088" y="5536692"/>
            <a:ext cx="4062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Реальный салон: 2 кабинета, мастера, поток клиентов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8" name="Text 31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02 / 14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ЦЕЛЬ И ЗАДАЧИ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Что нужно спроектировать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868680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572768"/>
            <a:ext cx="82296" cy="868680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572768"/>
            <a:ext cx="106463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8D3E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Цель.  </a:t>
            </a:r>
            <a:pPr indent="0" marL="0">
              <a:buNone/>
            </a:pPr>
            <a:r>
              <a:rPr lang="en-US" sz="17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Спроектировать АРМ менеджера салона на базе Excel — учёт клиентов, график мастеров, расходники, заказы, обучение и оперативную отчётность.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66928" y="2697480"/>
            <a:ext cx="3503066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6928" y="2697480"/>
            <a:ext cx="82296" cy="35204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Shape 8"/>
          <p:cNvSpPr/>
          <p:nvPr/>
        </p:nvSpPr>
        <p:spPr>
          <a:xfrm>
            <a:off x="841248" y="2990088"/>
            <a:ext cx="603504" cy="603504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194" y="3153034"/>
            <a:ext cx="277612" cy="27761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572768" y="2990088"/>
            <a:ext cx="231434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Анализ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841248" y="3776472"/>
            <a:ext cx="2954426" cy="0"/>
          </a:xfrm>
          <a:prstGeom prst="line">
            <a:avLst/>
          </a:prstGeom>
          <a:noFill/>
          <a:ln w="12700">
            <a:solidFill>
              <a:srgbClr val="D5DEE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9536" y="3977640"/>
            <a:ext cx="295442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Теория АРМ и автоматизации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Описание салона и процессов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Анализ функционала менеджера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4344314" y="2697480"/>
            <a:ext cx="3503066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44314" y="2697480"/>
            <a:ext cx="82296" cy="35204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7" name="Shape 14"/>
          <p:cNvSpPr/>
          <p:nvPr/>
        </p:nvSpPr>
        <p:spPr>
          <a:xfrm>
            <a:off x="4618634" y="2990088"/>
            <a:ext cx="603504" cy="603504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580" y="3153034"/>
            <a:ext cx="277612" cy="27761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350154" y="2990088"/>
            <a:ext cx="231434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Проектирование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4618634" y="3776472"/>
            <a:ext cx="2954426" cy="0"/>
          </a:xfrm>
          <a:prstGeom prst="line">
            <a:avLst/>
          </a:prstGeom>
          <a:noFill/>
          <a:ln w="12700">
            <a:solidFill>
              <a:srgbClr val="D5DEE9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636922" y="3977640"/>
            <a:ext cx="295442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Модели процессов AS‑IS / TO‑BE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Требования к АРМ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Структура данных (ER) и формы</a:t>
            </a:r>
            <a:endParaRPr lang="en-US" sz="1550" dirty="0"/>
          </a:p>
        </p:txBody>
      </p:sp>
      <p:sp>
        <p:nvSpPr>
          <p:cNvPr id="22" name="Shape 18"/>
          <p:cNvSpPr/>
          <p:nvPr/>
        </p:nvSpPr>
        <p:spPr>
          <a:xfrm>
            <a:off x="8121701" y="2697480"/>
            <a:ext cx="3503066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121701" y="2697480"/>
            <a:ext cx="82296" cy="35204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4" name="Shape 20"/>
          <p:cNvSpPr/>
          <p:nvPr/>
        </p:nvSpPr>
        <p:spPr>
          <a:xfrm>
            <a:off x="8396021" y="2990088"/>
            <a:ext cx="603504" cy="603504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967" y="3153034"/>
            <a:ext cx="277612" cy="277612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127541" y="2990088"/>
            <a:ext cx="231434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Оценка и внедрение</a:t>
            </a:r>
            <a:endParaRPr lang="en-US" sz="1900" dirty="0"/>
          </a:p>
        </p:txBody>
      </p:sp>
      <p:sp>
        <p:nvSpPr>
          <p:cNvPr id="27" name="Shape 22"/>
          <p:cNvSpPr/>
          <p:nvPr/>
        </p:nvSpPr>
        <p:spPr>
          <a:xfrm>
            <a:off x="8396021" y="3776472"/>
            <a:ext cx="2954426" cy="0"/>
          </a:xfrm>
          <a:prstGeom prst="line">
            <a:avLst/>
          </a:prstGeom>
          <a:noFill/>
          <a:ln w="12700">
            <a:solidFill>
              <a:srgbClr val="D5DEE9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14309" y="3977640"/>
            <a:ext cx="295442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Анализ рисков (PMBoK)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Расчёт экономического эффекта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План внедрения (12 недель)</a:t>
            </a:r>
            <a:endParaRPr lang="en-US" sz="1550" dirty="0"/>
          </a:p>
        </p:txBody>
      </p:sp>
      <p:sp>
        <p:nvSpPr>
          <p:cNvPr id="29" name="Shape 24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03 / 14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ОБЪЕКТ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Характеристика салона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6446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572768"/>
            <a:ext cx="82296" cy="960120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769364"/>
            <a:ext cx="566928" cy="566928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743" y="1922435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Студия перманентного макияжа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1527048" y="205740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«Ли Белекмы», Улан-Удэ · рейтинг 5,0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683764"/>
            <a:ext cx="6446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6928" y="2683764"/>
            <a:ext cx="82296" cy="960120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13" name="Shape 10"/>
          <p:cNvSpPr/>
          <p:nvPr/>
        </p:nvSpPr>
        <p:spPr>
          <a:xfrm>
            <a:off x="804672" y="2880360"/>
            <a:ext cx="566928" cy="566928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43" y="3033431"/>
            <a:ext cx="260787" cy="26078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27048" y="2802636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Услуги и обучение</a:t>
            </a:r>
            <a:endParaRPr lang="en-US" sz="1750" dirty="0"/>
          </a:p>
        </p:txBody>
      </p:sp>
      <p:sp>
        <p:nvSpPr>
          <p:cNvPr id="16" name="Text 12"/>
          <p:cNvSpPr/>
          <p:nvPr/>
        </p:nvSpPr>
        <p:spPr>
          <a:xfrm>
            <a:off x="1527048" y="3168396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брови, губы, межресничка + обучающие курсы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3794760"/>
            <a:ext cx="6446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66928" y="3794760"/>
            <a:ext cx="82296" cy="960120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19" name="Shape 15"/>
          <p:cNvSpPr/>
          <p:nvPr/>
        </p:nvSpPr>
        <p:spPr>
          <a:xfrm>
            <a:off x="804672" y="3991356"/>
            <a:ext cx="566928" cy="566928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743" y="4144427"/>
            <a:ext cx="260787" cy="26078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527048" y="39136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Масштаб</a:t>
            </a:r>
            <a:endParaRPr lang="en-US" sz="1750" dirty="0"/>
          </a:p>
        </p:txBody>
      </p:sp>
      <p:sp>
        <p:nvSpPr>
          <p:cNvPr id="22" name="Text 17"/>
          <p:cNvSpPr/>
          <p:nvPr/>
        </p:nvSpPr>
        <p:spPr>
          <a:xfrm>
            <a:off x="1527048" y="4279392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руководитель + ~3 мастера, 2 кабинета, 3 позиции расходников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566928" y="4905756"/>
            <a:ext cx="6446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66928" y="4905756"/>
            <a:ext cx="82296" cy="960120"/>
          </a:xfrm>
          <a:prstGeom prst="rect">
            <a:avLst/>
          </a:prstGeom>
          <a:solidFill>
            <a:srgbClr val="A8503F"/>
          </a:solidFill>
          <a:ln/>
        </p:spPr>
      </p:sp>
      <p:sp>
        <p:nvSpPr>
          <p:cNvPr id="25" name="Shape 20"/>
          <p:cNvSpPr/>
          <p:nvPr/>
        </p:nvSpPr>
        <p:spPr>
          <a:xfrm>
            <a:off x="804672" y="5102352"/>
            <a:ext cx="566928" cy="566928"/>
          </a:xfrm>
          <a:prstGeom prst="ellipse">
            <a:avLst/>
          </a:prstGeom>
          <a:solidFill>
            <a:srgbClr val="A8503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743" y="5255423"/>
            <a:ext cx="260787" cy="26078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527048" y="50246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Проблема</a:t>
            </a:r>
            <a:endParaRPr lang="en-US" sz="1750" dirty="0"/>
          </a:p>
        </p:txBody>
      </p:sp>
      <p:sp>
        <p:nvSpPr>
          <p:cNvPr id="28" name="Text 22"/>
          <p:cNvSpPr/>
          <p:nvPr/>
        </p:nvSpPr>
        <p:spPr>
          <a:xfrm>
            <a:off x="1527048" y="5390388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данные разрознены: WhatsApp · Telegram · бумага · таблица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7310780" y="1508760"/>
            <a:ext cx="4336694" cy="40736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pic>
        <p:nvPicPr>
          <p:cNvPr id="30" name="Image 4" descr="/Users/m/Documents/VKR_Stats/build/img_final/image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4788" y="1572768"/>
            <a:ext cx="4208678" cy="394563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333488" y="5536692"/>
            <a:ext cx="42912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Карточка студии: КДЦ «Арун», оф. 610 · контакты и карта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04 / 14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ФУНКЦИОНАЛ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Что делает менеджер салона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539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572768"/>
            <a:ext cx="82296" cy="1417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Shape 5"/>
          <p:cNvSpPr/>
          <p:nvPr/>
        </p:nvSpPr>
        <p:spPr>
          <a:xfrm>
            <a:off x="841248" y="1847088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70" y="2019910"/>
            <a:ext cx="294437" cy="29443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45920" y="1828800"/>
            <a:ext cx="411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Клиентский контур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45920" y="2304288"/>
            <a:ext cx="411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запись клиентов, история визитов, напоминания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33008" y="1572768"/>
            <a:ext cx="539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33008" y="1572768"/>
            <a:ext cx="82296" cy="1417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Shape 10"/>
          <p:cNvSpPr/>
          <p:nvPr/>
        </p:nvSpPr>
        <p:spPr>
          <a:xfrm>
            <a:off x="6507328" y="1847088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149" y="2019910"/>
            <a:ext cx="294437" cy="29443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312000" y="1828800"/>
            <a:ext cx="411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Ресурсный контур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7312000" y="2304288"/>
            <a:ext cx="411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расходники, заказы поставщикам, контроль остатков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6928" y="3154680"/>
            <a:ext cx="539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66928" y="3154680"/>
            <a:ext cx="82296" cy="1417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Shape 15"/>
          <p:cNvSpPr/>
          <p:nvPr/>
        </p:nvSpPr>
        <p:spPr>
          <a:xfrm>
            <a:off x="841248" y="342900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070" y="3601822"/>
            <a:ext cx="294437" cy="29443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45920" y="3410712"/>
            <a:ext cx="411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Контрольный контур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1645920" y="3886200"/>
            <a:ext cx="411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график мастеров, отчётность, ключевые показатели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233008" y="3154680"/>
            <a:ext cx="539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233008" y="3154680"/>
            <a:ext cx="82296" cy="1417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" name="Shape 20"/>
          <p:cNvSpPr/>
          <p:nvPr/>
        </p:nvSpPr>
        <p:spPr>
          <a:xfrm>
            <a:off x="6507328" y="342900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149" y="3601822"/>
            <a:ext cx="294437" cy="29443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312000" y="3410712"/>
            <a:ext cx="411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Коммуникационный контур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7312000" y="3886200"/>
            <a:ext cx="411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каналы записи, согласования, подтверждения</a:t>
            </a:r>
            <a:endParaRPr lang="en-US" sz="1400" dirty="0"/>
          </a:p>
        </p:txBody>
      </p:sp>
      <p:sp>
        <p:nvSpPr>
          <p:cNvPr id="29" name="Shape 23"/>
          <p:cNvSpPr/>
          <p:nvPr/>
        </p:nvSpPr>
        <p:spPr>
          <a:xfrm>
            <a:off x="566928" y="4736592"/>
            <a:ext cx="11057839" cy="868680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566928" y="4736592"/>
            <a:ext cx="82296" cy="868680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1" name="Shape 25"/>
          <p:cNvSpPr/>
          <p:nvPr/>
        </p:nvSpPr>
        <p:spPr>
          <a:xfrm>
            <a:off x="822960" y="4892040"/>
            <a:ext cx="548640" cy="548640"/>
          </a:xfrm>
          <a:prstGeom prst="ellipse">
            <a:avLst/>
          </a:prstGeom>
          <a:solidFill>
            <a:srgbClr val="B08D3E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093" y="5040173"/>
            <a:ext cx="252374" cy="25237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527048" y="4736592"/>
            <a:ext cx="9914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Контур обучения: </a:t>
            </a:r>
            <a:pPr indent="0" marL="0">
              <a:buNone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курсы и заявки на обучение.   </a:t>
            </a:r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Максимум эффекта — на сводных, повторяющихся операциях.</a:t>
            </a:r>
            <a:endParaRPr lang="en-US" sz="1550" dirty="0"/>
          </a:p>
        </p:txBody>
      </p:sp>
      <p:sp>
        <p:nvSpPr>
          <p:cNvPr id="34" name="Shape 27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05 / 14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ПРОЕКТИРОВАНИЕ · AS-IS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Процесс «как есть»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116120" y="1417320"/>
            <a:ext cx="9959456" cy="4014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pic>
        <p:nvPicPr>
          <p:cNvPr id="6" name="Image 0" descr="/Users/m/Documents/VKR_Stats/build/img_final/image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128" y="1481328"/>
            <a:ext cx="9831440" cy="3886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532120"/>
            <a:ext cx="11057839" cy="749808"/>
          </a:xfrm>
          <a:prstGeom prst="rect">
            <a:avLst/>
          </a:prstGeom>
          <a:solidFill>
            <a:srgbClr val="FBF1E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66928" y="5532120"/>
            <a:ext cx="82296" cy="749808"/>
          </a:xfrm>
          <a:prstGeom prst="rect">
            <a:avLst/>
          </a:prstGeom>
          <a:solidFill>
            <a:srgbClr val="A8503F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" y="5532120"/>
            <a:ext cx="1064635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Узкие места:  </a:t>
            </a:r>
            <a:pPr indent="0" marL="0">
              <a:buNone/>
            </a:pPr>
            <a:r>
              <a:rPr lang="en-US" sz="15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ручные сверки  ·  потери заявок  ·  нет единой картины дня  ·  двойные брони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06 / 14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ПРОЕКТИРОВАНИЕ · TO-BE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Процесс «как должно быть»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405280" y="1399032"/>
            <a:ext cx="9381136" cy="3785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pic>
        <p:nvPicPr>
          <p:cNvPr id="6" name="Image 0" descr="/Users/m/Documents/VKR_Stats/build/img_final/imag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9288" y="1463040"/>
            <a:ext cx="925312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285232"/>
            <a:ext cx="350306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66928" y="5285232"/>
            <a:ext cx="82296" cy="987552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5394960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Запись клиента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9808" y="5687568"/>
            <a:ext cx="31373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E7D5B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12 → 4 мин</a:t>
            </a:r>
            <a:endParaRPr lang="en-US" sz="2500" dirty="0"/>
          </a:p>
        </p:txBody>
      </p:sp>
      <p:sp>
        <p:nvSpPr>
          <p:cNvPr id="11" name="Shape 8"/>
          <p:cNvSpPr/>
          <p:nvPr/>
        </p:nvSpPr>
        <p:spPr>
          <a:xfrm>
            <a:off x="4344314" y="5285232"/>
            <a:ext cx="350306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4314" y="5285232"/>
            <a:ext cx="82296" cy="987552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3" name="Text 10"/>
          <p:cNvSpPr/>
          <p:nvPr/>
        </p:nvSpPr>
        <p:spPr>
          <a:xfrm>
            <a:off x="4527194" y="5394960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Повторные согласования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27194" y="5687568"/>
            <a:ext cx="31373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E7D5B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30% → ≤ 5%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8121701" y="5285232"/>
            <a:ext cx="350306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21701" y="5285232"/>
            <a:ext cx="82296" cy="987552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7" name="Text 14"/>
          <p:cNvSpPr/>
          <p:nvPr/>
        </p:nvSpPr>
        <p:spPr>
          <a:xfrm>
            <a:off x="8304581" y="5394960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График на неделю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04581" y="5687568"/>
            <a:ext cx="31373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E7D5B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40 → 10 мин</a:t>
            </a:r>
            <a:endParaRPr lang="en-US" sz="2500" dirty="0"/>
          </a:p>
        </p:txBody>
      </p:sp>
      <p:sp>
        <p:nvSpPr>
          <p:cNvPr id="19" name="Shape 16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07 / 14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ПРОЕКТИРОВАНИЕ · ДАННЫЕ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Модель данных (ER)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62321" y="1453896"/>
            <a:ext cx="6010013" cy="474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pic>
        <p:nvPicPr>
          <p:cNvPr id="6" name="Image 0" descr="/Users/m/Documents/VKR_Stats/build/img_final/image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329" y="1517904"/>
            <a:ext cx="5881997" cy="4617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33488" y="1517904"/>
            <a:ext cx="4291279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333488" y="1517904"/>
            <a:ext cx="82296" cy="4617720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9" name="Shape 6"/>
          <p:cNvSpPr/>
          <p:nvPr/>
        </p:nvSpPr>
        <p:spPr>
          <a:xfrm>
            <a:off x="7607808" y="1792224"/>
            <a:ext cx="548640" cy="54864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941" y="1940357"/>
            <a:ext cx="252374" cy="25237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93608" y="1792224"/>
            <a:ext cx="31939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Ключевые сущности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7644384" y="2542032"/>
            <a:ext cx="3742639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Клиент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Запись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Услуга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Мастер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Кабинет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Расходник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Заказ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Поставщик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Заявка на обучение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Курс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08 / 14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ПРОЕКТИРОВАНИЕ · ЛОГИКА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Логика обработки и роли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538900"/>
            <a:ext cx="4974336" cy="4164247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pic>
        <p:nvPicPr>
          <p:cNvPr id="6" name="Image 0" descr="/Users/m/Documents/VKR_Stats/build/img_final/image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2908"/>
            <a:ext cx="4846320" cy="40362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7972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EPC: обработка заявки клиента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715000" y="1492027"/>
            <a:ext cx="5973775" cy="2520635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pic>
        <p:nvPicPr>
          <p:cNvPr id="9" name="Image 1" descr="/Users/m/Documents/VKR_Stats/build/img_final/image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8" y="1556035"/>
            <a:ext cx="5845759" cy="239261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779008" y="4041648"/>
            <a:ext cx="58457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UML use-case: роли пользователей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9008" y="4553712"/>
            <a:ext cx="179618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779008" y="4553712"/>
            <a:ext cx="82296" cy="1417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Shape 9"/>
          <p:cNvSpPr/>
          <p:nvPr/>
        </p:nvSpPr>
        <p:spPr>
          <a:xfrm>
            <a:off x="6384493" y="4754880"/>
            <a:ext cx="585216" cy="585216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502" y="4912888"/>
            <a:ext cx="269199" cy="26919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870448" y="5394960"/>
            <a:ext cx="1613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Менеджер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5852160" y="5660136"/>
            <a:ext cx="1649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запись, контроль, отчёты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7803794" y="4553712"/>
            <a:ext cx="179618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803794" y="4553712"/>
            <a:ext cx="82296" cy="1417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Shape 14"/>
          <p:cNvSpPr/>
          <p:nvPr/>
        </p:nvSpPr>
        <p:spPr>
          <a:xfrm>
            <a:off x="8409280" y="4754880"/>
            <a:ext cx="585216" cy="585216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7288" y="4912888"/>
            <a:ext cx="269199" cy="26919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895234" y="5394960"/>
            <a:ext cx="1613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Мастер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7876946" y="5660136"/>
            <a:ext cx="1649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свой график, статусы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9828581" y="4553712"/>
            <a:ext cx="179618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828581" y="4553712"/>
            <a:ext cx="82296" cy="1417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" name="Shape 19"/>
          <p:cNvSpPr/>
          <p:nvPr/>
        </p:nvSpPr>
        <p:spPr>
          <a:xfrm>
            <a:off x="10434066" y="4754880"/>
            <a:ext cx="585216" cy="585216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2074" y="4912888"/>
            <a:ext cx="269199" cy="26919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920021" y="5394960"/>
            <a:ext cx="1613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Руководитель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9901733" y="5660136"/>
            <a:ext cx="1649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сводки и показатели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1" name="Text 24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09 / 14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РЕШЕНИЕ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АРМ на Excel: минимальная достаточность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2433093" y="1508760"/>
            <a:ext cx="7325509" cy="2093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pic>
        <p:nvPicPr>
          <p:cNvPr id="6" name="Image 0" descr="/Users/m/Documents/VKR_Stats/build/img_final/image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7101" y="1572768"/>
            <a:ext cx="7197493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36118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Главный экран — навигация по листам и сводка дня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3995928"/>
            <a:ext cx="3503066" cy="2295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66928" y="3995928"/>
            <a:ext cx="82296" cy="2295144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4123944"/>
            <a:ext cx="30915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Состав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95528" y="4453128"/>
            <a:ext cx="3091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главный экран + 8 рабочих листов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95528" y="4782312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EAD2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5528" y="4782312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Главный экран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847393" y="4782312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847393" y="4782312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Записи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899258" y="4782312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899258" y="4782312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Мастера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5528" y="5257800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5528" y="5257800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График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847393" y="5257800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847393" y="5257800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Расходники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899258" y="5257800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899258" y="5257800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Заказы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95528" y="5733288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95528" y="5733288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Обучение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1847393" y="5733288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847393" y="5733288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Отчёты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2899258" y="5733288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899258" y="5733288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Справочники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344314" y="3995928"/>
            <a:ext cx="3503066" cy="2295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44314" y="3995928"/>
            <a:ext cx="82296" cy="2295144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914" y="4123944"/>
            <a:ext cx="30915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Технологии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4591202" y="4507992"/>
            <a:ext cx="304586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Формулы: СЧЁТЕСЛИ, СУММЕСЛИ, ВПР, ИНДЕКС/ПОИСКПОЗ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«Проверка данных» + условное форматирование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Без VBA · Excel 2016+, LibreOffice, Google Sheets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8121701" y="3995928"/>
            <a:ext cx="3503066" cy="2295144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8121701" y="3995928"/>
            <a:ext cx="82296" cy="2295144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6" name="Shape 33"/>
          <p:cNvSpPr/>
          <p:nvPr/>
        </p:nvSpPr>
        <p:spPr>
          <a:xfrm>
            <a:off x="8350301" y="4142232"/>
            <a:ext cx="457200" cy="457200"/>
          </a:xfrm>
          <a:prstGeom prst="ellipse">
            <a:avLst/>
          </a:prstGeom>
          <a:solidFill>
            <a:srgbClr val="B08D3E"/>
          </a:solidFill>
          <a:ln/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745" y="4265676"/>
            <a:ext cx="210312" cy="210312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8898941" y="4142232"/>
            <a:ext cx="25429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08D3E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Минимальная достаточность</a:t>
            </a:r>
            <a:endParaRPr lang="en-US" sz="1450" dirty="0"/>
          </a:p>
        </p:txBody>
      </p:sp>
      <p:sp>
        <p:nvSpPr>
          <p:cNvPr id="39" name="Text 35"/>
          <p:cNvSpPr/>
          <p:nvPr/>
        </p:nvSpPr>
        <p:spPr>
          <a:xfrm>
            <a:off x="8368589" y="4672584"/>
            <a:ext cx="304586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 ₽ лицензий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внедрение за дни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окупаемость ≈ 3 мес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переносимо в облачную CRM при росте</a:t>
            </a:r>
            <a:endParaRPr lang="en-US" sz="1250" dirty="0"/>
          </a:p>
        </p:txBody>
      </p:sp>
      <p:sp>
        <p:nvSpPr>
          <p:cNvPr id="40" name="Shape 36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10 / 14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ПРОТОТИП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Экранные формы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5451196" cy="1582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pic>
        <p:nvPicPr>
          <p:cNvPr id="6" name="Image 0" descr="/Users/m/Documents/VKR_Stats/build/img_final/image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5323180" cy="1454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3072488"/>
            <a:ext cx="53231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Главный экран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3502256"/>
            <a:ext cx="5451196" cy="160164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pic>
        <p:nvPicPr>
          <p:cNvPr id="9" name="Image 1" descr="/Users/m/Documents/VKR_Stats/build/img_final/image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66264"/>
            <a:ext cx="5323180" cy="147362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085611"/>
            <a:ext cx="53231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Расходники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237580" y="1508760"/>
            <a:ext cx="5451196" cy="1371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pic>
        <p:nvPicPr>
          <p:cNvPr id="12" name="Image 2" descr="/Users/m/Documents/VKR_Stats/build/img_final/image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8" y="1572768"/>
            <a:ext cx="5323180" cy="124309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301588" y="2861585"/>
            <a:ext cx="53231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Записи клиентов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907225" y="3291353"/>
            <a:ext cx="4111904" cy="1911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pic>
        <p:nvPicPr>
          <p:cNvPr id="15" name="Image 3" descr="/Users/m/Documents/VKR_Stats/build/img_final/image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1233" y="3355361"/>
            <a:ext cx="3983888" cy="17830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301588" y="5184161"/>
            <a:ext cx="53231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Отчёты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66928" y="5650992"/>
            <a:ext cx="1105783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566928" y="5650992"/>
            <a:ext cx="82296" cy="457200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19" name="Text 13"/>
          <p:cNvSpPr/>
          <p:nvPr/>
        </p:nvSpPr>
        <p:spPr>
          <a:xfrm>
            <a:off x="795528" y="5650992"/>
            <a:ext cx="106463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Ещё 5 листов:  </a:t>
            </a:r>
            <a:pPr indent="0" marL="0">
              <a:buNone/>
            </a:pPr>
            <a:r>
              <a:rPr lang="en-US" sz="13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Мастера · График · Заказы · Обучение · Справочники — на единых справочниках и формулах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22" name="Text 16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11 / 14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ОЦЕНКА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Риски и экономический эффект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61264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572768"/>
            <a:ext cx="82296" cy="4572000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7" name="Shape 5"/>
          <p:cNvSpPr/>
          <p:nvPr/>
        </p:nvSpPr>
        <p:spPr>
          <a:xfrm>
            <a:off x="841248" y="1810512"/>
            <a:ext cx="548640" cy="54864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958645"/>
            <a:ext cx="252374" cy="25237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181051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Управление рисками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77824" y="2532888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Оценка: вероятность × влияние, матрица 3×3 (PMBoK)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5 категорий источников риска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Защита персональных данных по 152-ФЗ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77824" y="3950208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 стратегии реагирования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77824" y="428853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7824" y="4288536"/>
            <a:ext cx="1280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Избегание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286000" y="428853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286000" y="4288536"/>
            <a:ext cx="1280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Снижение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694176" y="428853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94176" y="4288536"/>
            <a:ext cx="1280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Передача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102352" y="428853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102352" y="4288536"/>
            <a:ext cx="1280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Принятие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77824" y="509320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3598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Риски управляемы и не требуют дополнительных вложений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13448" y="1572768"/>
            <a:ext cx="4611319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013448" y="1572768"/>
            <a:ext cx="82296" cy="1426464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23" name="Shape 20"/>
          <p:cNvSpPr/>
          <p:nvPr/>
        </p:nvSpPr>
        <p:spPr>
          <a:xfrm>
            <a:off x="7251192" y="1773936"/>
            <a:ext cx="438912" cy="438912"/>
          </a:xfrm>
          <a:prstGeom prst="ellipse">
            <a:avLst/>
          </a:prstGeom>
          <a:solidFill>
            <a:srgbClr val="33598A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698" y="1892442"/>
            <a:ext cx="201900" cy="20190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818120" y="1737360"/>
            <a:ext cx="36511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Затраты на разработку</a:t>
            </a:r>
            <a:endParaRPr lang="en-US" sz="1350" dirty="0"/>
          </a:p>
        </p:txBody>
      </p:sp>
      <p:sp>
        <p:nvSpPr>
          <p:cNvPr id="26" name="Text 22"/>
          <p:cNvSpPr/>
          <p:nvPr/>
        </p:nvSpPr>
        <p:spPr>
          <a:xfrm>
            <a:off x="7242048" y="2121408"/>
            <a:ext cx="41541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3598A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24 000 ₽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242048" y="2724912"/>
            <a:ext cx="4154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80 ч × 300 ₽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013448" y="3145536"/>
            <a:ext cx="4611319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013448" y="3145536"/>
            <a:ext cx="82296" cy="1426464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30" name="Shape 26"/>
          <p:cNvSpPr/>
          <p:nvPr/>
        </p:nvSpPr>
        <p:spPr>
          <a:xfrm>
            <a:off x="7251192" y="3346704"/>
            <a:ext cx="438912" cy="438912"/>
          </a:xfrm>
          <a:prstGeom prst="ellipse">
            <a:avLst/>
          </a:prstGeom>
          <a:solidFill>
            <a:srgbClr val="33598A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9698" y="3465210"/>
            <a:ext cx="201900" cy="20190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818120" y="3310128"/>
            <a:ext cx="36511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Экономия времени</a:t>
            </a:r>
            <a:endParaRPr lang="en-US" sz="1350" dirty="0"/>
          </a:p>
        </p:txBody>
      </p:sp>
      <p:sp>
        <p:nvSpPr>
          <p:cNvPr id="33" name="Text 28"/>
          <p:cNvSpPr/>
          <p:nvPr/>
        </p:nvSpPr>
        <p:spPr>
          <a:xfrm>
            <a:off x="7242048" y="3694176"/>
            <a:ext cx="41541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3598A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27 ч / мес</a:t>
            </a:r>
            <a:endParaRPr lang="en-US" sz="3000" dirty="0"/>
          </a:p>
        </p:txBody>
      </p:sp>
      <p:sp>
        <p:nvSpPr>
          <p:cNvPr id="34" name="Text 29"/>
          <p:cNvSpPr/>
          <p:nvPr/>
        </p:nvSpPr>
        <p:spPr>
          <a:xfrm>
            <a:off x="7242048" y="4297680"/>
            <a:ext cx="4154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≈ 8 100 ₽/мес · ≈ 97 200 ₽/год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013448" y="4718304"/>
            <a:ext cx="4611319" cy="1426464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36" name="Shape 31"/>
          <p:cNvSpPr/>
          <p:nvPr/>
        </p:nvSpPr>
        <p:spPr>
          <a:xfrm>
            <a:off x="7013448" y="4718304"/>
            <a:ext cx="82296" cy="1426464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7" name="Shape 32"/>
          <p:cNvSpPr/>
          <p:nvPr/>
        </p:nvSpPr>
        <p:spPr>
          <a:xfrm>
            <a:off x="7251192" y="4919472"/>
            <a:ext cx="438912" cy="438912"/>
          </a:xfrm>
          <a:prstGeom prst="ellipse">
            <a:avLst/>
          </a:prstGeom>
          <a:solidFill>
            <a:srgbClr val="B08D3E"/>
          </a:solidFill>
          <a:ln/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698" y="5037978"/>
            <a:ext cx="201900" cy="20190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818120" y="4882896"/>
            <a:ext cx="36511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Окупаемость</a:t>
            </a:r>
            <a:endParaRPr lang="en-US" sz="1350" dirty="0"/>
          </a:p>
        </p:txBody>
      </p:sp>
      <p:sp>
        <p:nvSpPr>
          <p:cNvPr id="40" name="Text 34"/>
          <p:cNvSpPr/>
          <p:nvPr/>
        </p:nvSpPr>
        <p:spPr>
          <a:xfrm>
            <a:off x="7242048" y="5266944"/>
            <a:ext cx="41541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08D3E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≈ 3 месяца</a:t>
            </a:r>
            <a:endParaRPr lang="en-US" sz="3600" dirty="0"/>
          </a:p>
        </p:txBody>
      </p:sp>
      <p:sp>
        <p:nvSpPr>
          <p:cNvPr id="41" name="Text 35"/>
          <p:cNvSpPr/>
          <p:nvPr/>
        </p:nvSpPr>
        <p:spPr>
          <a:xfrm>
            <a:off x="7242048" y="5870448"/>
            <a:ext cx="4154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окупается за один квартал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44" name="Text 38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12 / 14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ЗАКЛЮЧЕНИЕ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Итоги и развитие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11057839" cy="914400"/>
          </a:xfrm>
          <a:prstGeom prst="rect">
            <a:avLst/>
          </a:prstGeom>
          <a:solidFill>
            <a:srgbClr val="EEF6F1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627632"/>
            <a:ext cx="82296" cy="91440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7" name="Shape 5"/>
          <p:cNvSpPr/>
          <p:nvPr/>
        </p:nvSpPr>
        <p:spPr>
          <a:xfrm>
            <a:off x="841248" y="1792224"/>
            <a:ext cx="566928" cy="566928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319" y="1945295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72768" y="1627632"/>
            <a:ext cx="98691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Цель достигнута.  </a:t>
            </a:r>
            <a:pPr indent="0" marL="0">
              <a:buNone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Спроектирован АРМ менеджера салона: модели процессов, структура данных, формы и работающий Excel-прототип.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66928" y="2724912"/>
            <a:ext cx="1105783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66928" y="2724912"/>
            <a:ext cx="82296" cy="9144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2724912"/>
            <a:ext cx="106006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Вывод.  </a:t>
            </a:r>
            <a:pPr indent="0" marL="0">
              <a:buNone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Автоматизация рабочего места в малом салоне достижима без дорогой CRM — на доступных инструментах и с окупаемостью около трёх месяцев.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66928" y="388620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НАПРАВЛЕНИЯ РАЗВИТИЯ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51960"/>
            <a:ext cx="2558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66928" y="4251960"/>
            <a:ext cx="82296" cy="1691640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16" name="Shape 13"/>
          <p:cNvSpPr/>
          <p:nvPr/>
        </p:nvSpPr>
        <p:spPr>
          <a:xfrm>
            <a:off x="1480528" y="4544568"/>
            <a:ext cx="731520" cy="73152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038" y="4742078"/>
            <a:ext cx="336499" cy="336499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76656" y="5394960"/>
            <a:ext cx="233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Формы ввода данных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3399968" y="4251960"/>
            <a:ext cx="2558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399968" y="4251960"/>
            <a:ext cx="82296" cy="1691640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21" name="Shape 17"/>
          <p:cNvSpPr/>
          <p:nvPr/>
        </p:nvSpPr>
        <p:spPr>
          <a:xfrm>
            <a:off x="4313568" y="4544568"/>
            <a:ext cx="731520" cy="73152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78" y="4742078"/>
            <a:ext cx="336499" cy="336499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509696" y="5394960"/>
            <a:ext cx="233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Автоуведомления клиентам</a:t>
            </a:r>
            <a:endParaRPr lang="en-US" sz="1450" dirty="0"/>
          </a:p>
        </p:txBody>
      </p:sp>
      <p:sp>
        <p:nvSpPr>
          <p:cNvPr id="24" name="Shape 19"/>
          <p:cNvSpPr/>
          <p:nvPr/>
        </p:nvSpPr>
        <p:spPr>
          <a:xfrm>
            <a:off x="6233008" y="4251960"/>
            <a:ext cx="2558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233008" y="4251960"/>
            <a:ext cx="82296" cy="1691640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26" name="Shape 21"/>
          <p:cNvSpPr/>
          <p:nvPr/>
        </p:nvSpPr>
        <p:spPr>
          <a:xfrm>
            <a:off x="7146607" y="4544568"/>
            <a:ext cx="731520" cy="73152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4118" y="4742078"/>
            <a:ext cx="336499" cy="336499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342736" y="5394960"/>
            <a:ext cx="233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Перенос в облако / CRM</a:t>
            </a:r>
            <a:endParaRPr lang="en-US" sz="1450" dirty="0"/>
          </a:p>
        </p:txBody>
      </p:sp>
      <p:sp>
        <p:nvSpPr>
          <p:cNvPr id="29" name="Shape 23"/>
          <p:cNvSpPr/>
          <p:nvPr/>
        </p:nvSpPr>
        <p:spPr>
          <a:xfrm>
            <a:off x="9066047" y="4251960"/>
            <a:ext cx="2558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9066047" y="4251960"/>
            <a:ext cx="82296" cy="1691640"/>
          </a:xfrm>
          <a:prstGeom prst="rect">
            <a:avLst/>
          </a:prstGeom>
          <a:solidFill>
            <a:srgbClr val="33598A"/>
          </a:solidFill>
          <a:ln/>
        </p:spPr>
      </p:sp>
      <p:sp>
        <p:nvSpPr>
          <p:cNvPr id="31" name="Shape 25"/>
          <p:cNvSpPr/>
          <p:nvPr/>
        </p:nvSpPr>
        <p:spPr>
          <a:xfrm>
            <a:off x="9979647" y="4544568"/>
            <a:ext cx="731520" cy="731520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7158" y="4742078"/>
            <a:ext cx="336499" cy="336499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175775" y="5394960"/>
            <a:ext cx="233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Онлайн-запись</a:t>
            </a:r>
            <a:endParaRPr lang="en-US" sz="1450" dirty="0"/>
          </a:p>
        </p:txBody>
      </p:sp>
      <p:sp>
        <p:nvSpPr>
          <p:cNvPr id="34" name="Shape 27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13 / 14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2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ln w="12700">
            <a:solidFill>
              <a:srgbClr val="3A4D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38648" y="1828800"/>
            <a:ext cx="914400" cy="914400"/>
          </a:xfrm>
          <a:prstGeom prst="ellipse">
            <a:avLst/>
          </a:prstGeom>
          <a:solidFill>
            <a:srgbClr val="B08D3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5536" y="2075688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9718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Спасибо за внимание!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547208" y="3977640"/>
            <a:ext cx="1097280" cy="27432"/>
          </a:xfrm>
          <a:prstGeom prst="rect">
            <a:avLst/>
          </a:prstGeom>
          <a:solidFill>
            <a:srgbClr val="B08D3E"/>
          </a:solidFill>
          <a:ln/>
        </p:spPr>
      </p:sp>
      <p:sp>
        <p:nvSpPr>
          <p:cNvPr id="7" name="Text 4"/>
          <p:cNvSpPr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6D6E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Готов(а) ответить на вопросы комиссии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0" y="5943600"/>
            <a:ext cx="121916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2A4C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Проектирование АРМ менеджера салона красоты · ВСГУТУ · Улан-Удэ,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АРМ менеджера салона красоты — защита ВКР</dc:title>
  <dc:subject>PptxGenJS Presentation</dc:subject>
  <dc:creator>ВСГУТУ</dc:creator>
  <cp:lastModifiedBy>ВСГУТУ</cp:lastModifiedBy>
  <cp:revision>1</cp:revision>
  <dcterms:created xsi:type="dcterms:W3CDTF">2026-05-25T14:49:58Z</dcterms:created>
  <dcterms:modified xsi:type="dcterms:W3CDTF">2026-05-25T14:49:58Z</dcterms:modified>
</cp:coreProperties>
</file>