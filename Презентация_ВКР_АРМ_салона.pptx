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?>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6.xml.rels><?xml version="1.0" encoding="UTF-8"?>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9.xml.rels><?xml version="1.0" encoding="UTF-8"?>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0.xml.rels><?xml version="1.0" encoding="UTF-8"?>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3.png"/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1.xml.rels><?xml version="1.0" encoding="UTF-8"?>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3.png"/></Relationships>
</file>

<file path=ppt/slides/_rels/slide12.xml.rels><?xml version="1.0" encoding="UTF-8"?>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6.png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3.xml.rels><?xml version="1.0" encoding="UTF-8"?>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4.xml.rels><?xml version="1.0" encoding="UTF-8"?>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12700">
            <a:solidFill>
              <a:srgbClr val="3A4D6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676656"/>
            <a:ext cx="1219169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C6D6EC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ВСГУТУ · Факультет компьютерных наук и технологий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0" y="969264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A4C0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Кафедра прикладной информатики, статистики и анализа данных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55648"/>
            <a:ext cx="1219169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ВЫПУСКНАЯ КВАЛИФИКАЦИОННАЯ РАБОТА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Проектирование автоматизированного рабочего места</a:t>
            </a:r>
            <a:endParaRPr lang="en-US" sz="33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менеджера салона красоты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31520" y="3785616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6D6EC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(на примере Школы перманентного макияжа «Ли Белекмы»)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47208" y="4334256"/>
            <a:ext cx="1097280" cy="27432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0" y="4572000"/>
            <a:ext cx="12191695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2A4C0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Выполнил(а):  </a:t>
            </a:r>
            <a:r>
              <a:rPr lang="en-US" sz="1500" b="1" dirty="0">
                <a:solidFill>
                  <a:srgbClr val="FFFFF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[ФИО автора]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0" y="4919472"/>
            <a:ext cx="12191695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2A4C0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Руководитель:  </a:t>
            </a:r>
            <a:r>
              <a:rPr lang="en-US" sz="1500" b="1" dirty="0">
                <a:solidFill>
                  <a:srgbClr val="FFFFF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[ФИО руководителя]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5596128"/>
            <a:ext cx="12191695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2A4C0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Направление 09.03.03 «Прикладная информатика»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0" y="5943600"/>
            <a:ext cx="12191695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D6EC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Улан-Удэ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Зачем малому салону собственный АРМ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04672" y="1769364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92243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69164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Учёт «вручную»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27048" y="2057400"/>
            <a:ext cx="5532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записи в мессенджерах, на бумаге и в разрозненных таблицах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683764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66928" y="2683764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04672" y="2880360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43" y="3033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27048" y="2802636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Двойные записи и потери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527048" y="3168396"/>
            <a:ext cx="5532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нет единой картины дня — клиенты и заявки теряются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794760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66928" y="3794760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04672" y="3991356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743" y="4144427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27048" y="3913632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Несогласованность каналов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527048" y="4279392"/>
            <a:ext cx="5532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ВКонтакте, MAX, бумага и таблица не согласованы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66928" y="4905756"/>
            <a:ext cx="6675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566928" y="4905756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804672" y="5102352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5255423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5024628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Дорогая CRM избыточна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1527048" y="5390388"/>
            <a:ext cx="5532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для салона на 3 мастера полноценная CRM не окупается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7562088" y="1572768"/>
            <a:ext cx="4062679" cy="13258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7562088" y="1572768"/>
            <a:ext cx="82296" cy="1325880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7699248" y="1664208"/>
            <a:ext cx="3788359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08D3E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&gt;50%</a:t>
            </a:r>
            <a:endParaRPr lang="en-US" sz="4400" dirty="0"/>
          </a:p>
        </p:txBody>
      </p:sp>
      <p:sp>
        <p:nvSpPr>
          <p:cNvPr id="32" name="Text 26"/>
          <p:cNvSpPr/>
          <p:nvPr/>
        </p:nvSpPr>
        <p:spPr>
          <a:xfrm>
            <a:off x="7744968" y="2359152"/>
            <a:ext cx="3696919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ошибок — из-за несогласованности каналов записи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8615591" y="2999232"/>
            <a:ext cx="1955673" cy="2564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34" name="Image 4" descr="/Users/m/Documents/VKR_Stats/build/img_final/image5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9599" y="3063240"/>
            <a:ext cx="1827657" cy="243687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562088" y="5563997"/>
            <a:ext cx="4062679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Реальный салон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02 / 15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ЦЕЛЬ И ЗАДАЧИ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Что нужно спроектировать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8686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868680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5528" y="1572768"/>
            <a:ext cx="10646359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08D3E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Цель.  </a:t>
            </a:r>
            <a:r>
              <a:rPr lang="en-US" sz="17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Спроектировать АРМ менеджера салона на базе Excel — учёт клиентов, график мастеров, расходные материалы, заказы, обучение и оперативную отчётность.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0" name="Text 25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03 / 15</a:t>
            </a:r>
            <a:endParaRPr lang="en-US" sz="950" dirty="0"/>
          </a:p>
        </p:txBody>
      </p:sp>
      <p:sp>
        <p:nvSpPr>
          <p:cNvPr id="40" name="Задачи заголовок"/>
          <p:cNvSpPr/>
          <p:nvPr/>
        </p:nvSpPr>
        <p:spPr>
          <a:xfrm>
            <a:off x="566928" y="2750000"/>
            <a:ext cx="11058144" cy="520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Задачи</a:t>
            </a:r>
            <a:endParaRPr lang="ru-RU" sz="1900" b="1" dirty="0"/>
          </a:p>
        </p:txBody>
      </p:sp>
      <p:sp>
        <p:nvSpPr>
          <p:cNvPr id="41" name="Задачи список"/>
          <p:cNvSpPr/>
          <p:nvPr/>
        </p:nvSpPr>
        <p:spPr>
          <a:xfrm>
            <a:off x="566928" y="3320000"/>
            <a:ext cx="11058144" cy="30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Изучить теорию АРМ и обосновать выбор инструментов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Описать салон как объект автоматизации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Разобрать функционал менеджера и виды его работ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Построить модели бизнес-процессов AS-IS и TO-BE (BPMN, EPC, UML)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Выписать функциональные, информационные и интерфейсные требования к АРМ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Спроектировать структуру данных и экранные формы Excel-прототипа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Оценить риски IT-проекта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Рассчитать затраты и экономический эффект</a:t>
            </a:r>
            <a:endParaRPr lang="ru-RU" sz="1600" dirty="0"/>
          </a:p>
          <a:p>
            <a:pPr marL="342900" indent="-342900">
              <a:spcAft>
                <a:spcPts val="700"/>
              </a:spcAft>
              <a:buFont typeface="PT Sans" pitchFamily="34" charset="0"/>
              <a:buAutoNum type="arabicPeriod"/>
            </a:pPr>
            <a:r>
              <a:rPr lang="ru-RU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Описать план внедрения и направления развития</a:t>
            </a:r>
            <a:endParaRPr lang="ru-RU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ОБЪЕКТ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Характеристика салона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509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04672" y="1769364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92243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6916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Студия перманентного макияжа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527048" y="2057400"/>
            <a:ext cx="9692640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«Ли Белекмы», Улан-Удэ · рейтинг 5,0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683764"/>
            <a:ext cx="1105509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66928" y="2683764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04672" y="2880360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43" y="3033431"/>
            <a:ext cx="260787" cy="26078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27048" y="28026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Услуги и обучение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1527048" y="3168396"/>
            <a:ext cx="9692640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брови, губы, межресничное пространство + обучающие курсы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794760"/>
            <a:ext cx="1105509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66928" y="3794760"/>
            <a:ext cx="82296" cy="9601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04672" y="3991356"/>
            <a:ext cx="566928" cy="566928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743" y="4144427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27048" y="391363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Масштаб</a:t>
            </a:r>
            <a:endParaRPr lang="en-US" sz="1750" dirty="0"/>
          </a:p>
        </p:txBody>
      </p:sp>
      <p:sp>
        <p:nvSpPr>
          <p:cNvPr id="22" name="Text 17"/>
          <p:cNvSpPr/>
          <p:nvPr/>
        </p:nvSpPr>
        <p:spPr>
          <a:xfrm>
            <a:off x="1527048" y="4279392"/>
            <a:ext cx="9692640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руководитель + ~3 мастера, 2 кабинета, 3 позиции расходных материалов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66928" y="4905756"/>
            <a:ext cx="1105509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566928" y="4905756"/>
            <a:ext cx="82296" cy="960120"/>
          </a:xfrm>
          <a:prstGeom prst="rect">
            <a:avLst/>
          </a:prstGeom>
          <a:solidFill>
            <a:srgbClr val="A8503F"/>
          </a:solidFill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804672" y="5102352"/>
            <a:ext cx="566928" cy="566928"/>
          </a:xfrm>
          <a:prstGeom prst="ellipse">
            <a:avLst/>
          </a:prstGeom>
          <a:solidFill>
            <a:srgbClr val="A8503F"/>
          </a:solidFill>
        </p:spPr>
        <p:txBody>
          <a:bodyPr/>
          <a:p/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5255423"/>
            <a:ext cx="260787" cy="26078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502462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Проблема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1527048" y="5390388"/>
            <a:ext cx="9692640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данные разрознены: ВКонтакте · MAX · бумага · таблица</a:t>
            </a:r>
            <a:endParaRPr lang="en-US" sz="1350" dirty="0"/>
          </a:p>
        </p:txBody>
      </p:sp>
      <p:sp>
        <p:nvSpPr>
          <p:cNvPr id="32" name="Shape 25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3" name="Text 26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04 / 15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ОБЪЕКТ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Карточка студии «Ли Белекмы» · КДЦ «Арун», оф. 610</a:t>
            </a:r>
            <a:endParaRPr lang="en-US" sz="2900" dirty="0"/>
          </a:p>
        </p:txBody>
      </p:sp>
      <p:sp>
        <p:nvSpPr>
          <p:cNvPr id="29" name="Shape 23"/>
          <p:cNvSpPr/>
          <p:nvPr/>
        </p:nvSpPr>
        <p:spPr>
          <a:xfrm>
            <a:off x="1980344" y="1289304"/>
            <a:ext cx="8231006" cy="5065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30" name="Image 4" descr="/Users/m/Documents/VKR_Stats/build/img_final/image4.png"/>
          <p:cNvPicPr>
            <a:picLocks noChangeAspect="1"/>
          </p:cNvPicPr>
          <p:nvPr/>
        </p:nvPicPr>
        <p:blipFill>
          <a:blip r:embed="rId1"/>
          <a:srcRect b="35000"/>
          <a:stretch>
            <a:fillRect/>
          </a:stretch>
        </p:blipFill>
        <p:spPr>
          <a:xfrm>
            <a:off x="2044352" y="1353312"/>
            <a:ext cx="8102990" cy="493776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3" name="Text 26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05 / 15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ФУНКЦИОНАЛ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Что делает менеджер салона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847088"/>
            <a:ext cx="640080" cy="64008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70" y="2019910"/>
            <a:ext cx="294437" cy="29443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1828800"/>
            <a:ext cx="4111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Клиентский контур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45920" y="2304288"/>
            <a:ext cx="41116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запись клиентов, история визитов, напоминания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1572768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33008" y="1572768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507328" y="1847088"/>
            <a:ext cx="640080" cy="64008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149" y="2019910"/>
            <a:ext cx="294437" cy="29443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12000" y="1828800"/>
            <a:ext cx="4111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Ресурсный контур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7312000" y="2304288"/>
            <a:ext cx="41116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расходные материалы, заказы поставщикам, контроль остатков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6928" y="3154680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566928" y="3154680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41248" y="3429000"/>
            <a:ext cx="640080" cy="64008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70" y="3601822"/>
            <a:ext cx="294437" cy="2944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3410712"/>
            <a:ext cx="4111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Контрольный контур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645920" y="3886200"/>
            <a:ext cx="41116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график мастеров, отчётность, ключевые показатели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233008" y="3154680"/>
            <a:ext cx="5391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33008" y="3154680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507328" y="3429000"/>
            <a:ext cx="640080" cy="64008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149" y="3601822"/>
            <a:ext cx="294437" cy="29443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12000" y="3410712"/>
            <a:ext cx="4111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Коммуникационный контур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7312000" y="3886200"/>
            <a:ext cx="41116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каналы записи, согласования, подтверждения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566928" y="4736592"/>
            <a:ext cx="11057839" cy="868680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566928" y="4736592"/>
            <a:ext cx="82296" cy="868680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822960" y="4892040"/>
            <a:ext cx="548640" cy="548640"/>
          </a:xfrm>
          <a:prstGeom prst="ellipse">
            <a:avLst/>
          </a:prstGeom>
          <a:solidFill>
            <a:srgbClr val="B08D3E"/>
          </a:solidFill>
        </p:spPr>
        <p:txBody>
          <a:bodyPr/>
          <a:p/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040173"/>
            <a:ext cx="252374" cy="25237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527048" y="4736592"/>
            <a:ext cx="9914839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Контур обучения: </a:t>
            </a:r>
            <a:r>
              <a:rPr lang="en-US" sz="15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курсы и заявки на обучение.   </a:t>
            </a:r>
            <a:r>
              <a:rPr lang="en-US" sz="15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Максимум эффекта — на сводных, повторяющихся операциях.</a:t>
            </a:r>
            <a:endParaRPr lang="en-US" sz="1550" dirty="0"/>
          </a:p>
        </p:txBody>
      </p:sp>
      <p:sp>
        <p:nvSpPr>
          <p:cNvPr id="34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06 / 15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ПРОЕКТИРОВАНИЕ · AS-IS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Процесс «как есть»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116120" y="1417320"/>
            <a:ext cx="9959456" cy="401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128" y="1481328"/>
            <a:ext cx="9831440" cy="3886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32120"/>
            <a:ext cx="11057839" cy="749808"/>
          </a:xfrm>
          <a:prstGeom prst="rect">
            <a:avLst/>
          </a:prstGeom>
          <a:solidFill>
            <a:srgbClr val="FBF1E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66928" y="5532120"/>
            <a:ext cx="82296" cy="749808"/>
          </a:xfrm>
          <a:prstGeom prst="rect">
            <a:avLst/>
          </a:prstGeom>
          <a:solidFill>
            <a:srgbClr val="A8503F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95528" y="5532120"/>
            <a:ext cx="10646359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85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Узкие места:  </a:t>
            </a:r>
            <a:r>
              <a:rPr lang="en-US" sz="15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ручные сверки  ·  потери заявок  ·  нет единой картины дня  ·  двойные записи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07 / 15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ПРОЕКТИРОВАНИЕ · TO-BE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Процесс «как должно быть»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1405280" y="1399032"/>
            <a:ext cx="9381136" cy="3785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9288" y="1463040"/>
            <a:ext cx="92531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66928" y="5285232"/>
            <a:ext cx="82296" cy="987552"/>
          </a:xfrm>
          <a:prstGeom prst="rect">
            <a:avLst/>
          </a:prstGeom>
          <a:solidFill>
            <a:srgbClr val="2E7D5B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49808" y="5394960"/>
            <a:ext cx="313730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Запись клиента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9808" y="5687568"/>
            <a:ext cx="313730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12 → 4 мин</a:t>
            </a:r>
            <a:endParaRPr lang="en-US" sz="2500" dirty="0"/>
          </a:p>
        </p:txBody>
      </p:sp>
      <p:sp>
        <p:nvSpPr>
          <p:cNvPr id="11" name="Shape 8"/>
          <p:cNvSpPr/>
          <p:nvPr/>
        </p:nvSpPr>
        <p:spPr>
          <a:xfrm>
            <a:off x="4344314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344314" y="5285232"/>
            <a:ext cx="82296" cy="987552"/>
          </a:xfrm>
          <a:prstGeom prst="rect">
            <a:avLst/>
          </a:prstGeom>
          <a:solidFill>
            <a:srgbClr val="2E7D5B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527194" y="5394960"/>
            <a:ext cx="313730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Повторные согласования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27194" y="5687568"/>
            <a:ext cx="313730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30% → ≤ 5%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121701" y="5285232"/>
            <a:ext cx="3503066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121701" y="5285232"/>
            <a:ext cx="82296" cy="987552"/>
          </a:xfrm>
          <a:prstGeom prst="rect">
            <a:avLst/>
          </a:prstGeom>
          <a:solidFill>
            <a:srgbClr val="2E7D5B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304581" y="5394960"/>
            <a:ext cx="313730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График на неделю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04581" y="5687568"/>
            <a:ext cx="313730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E7D5B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40 → 10 мин</a:t>
            </a:r>
            <a:endParaRPr lang="en-US" sz="2500" dirty="0"/>
          </a:p>
        </p:txBody>
      </p:sp>
      <p:sp>
        <p:nvSpPr>
          <p:cNvPr id="19" name="Shape 1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08 / 15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ПРОЕКТИРОВАНИЕ · ДАННЫЕ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Модель данных (ER)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62321" y="1453896"/>
            <a:ext cx="6010013" cy="474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329" y="1517904"/>
            <a:ext cx="5881997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33488" y="1517904"/>
            <a:ext cx="4291279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333488" y="1517904"/>
            <a:ext cx="82296" cy="461772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607808" y="1792224"/>
            <a:ext cx="548640" cy="54864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941" y="1940357"/>
            <a:ext cx="252374" cy="25237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93608" y="1792224"/>
            <a:ext cx="3193999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Ключевые сущности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7644384" y="2542032"/>
            <a:ext cx="3742639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Клиент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Запись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Услуга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Мастер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Кабинет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Расходник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Заказ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Поставщик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Заявка на обучение</a:t>
            </a:r>
            <a:endParaRPr lang="en-US" sz="16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Курс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09 / 15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ПРОЕКТИРОВАНИЕ · ЛОГИКА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Логика обработки и роли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38900"/>
            <a:ext cx="4974336" cy="4164247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2908"/>
            <a:ext cx="4846320" cy="40362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79729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EPC: обработка заявки клиента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15000" y="1492027"/>
            <a:ext cx="5973775" cy="2520635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9" name="Image 1" descr="/Users/m/Documents/VKR_Stats/build/img_final/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1556035"/>
            <a:ext cx="5845759" cy="239261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79008" y="4041648"/>
            <a:ext cx="584575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UML use-case: роли пользователей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9008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779008" y="4553712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384493" y="4754880"/>
            <a:ext cx="585216" cy="585216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02" y="4912888"/>
            <a:ext cx="269199" cy="26919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70448" y="5394960"/>
            <a:ext cx="161330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Менеджер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5852160" y="5660136"/>
            <a:ext cx="164988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запись, контроль, отчёты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7803794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7803794" y="4553712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409280" y="4754880"/>
            <a:ext cx="585216" cy="585216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288" y="4912888"/>
            <a:ext cx="269199" cy="26919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895234" y="5394960"/>
            <a:ext cx="161330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Мастер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7876946" y="5660136"/>
            <a:ext cx="164988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свой график, статусы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9828581" y="4553712"/>
            <a:ext cx="179618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9828581" y="4553712"/>
            <a:ext cx="82296" cy="141732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10434066" y="4754880"/>
            <a:ext cx="585216" cy="585216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2074" y="4912888"/>
            <a:ext cx="269199" cy="26919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920021" y="5394960"/>
            <a:ext cx="1613306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Руководитель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901733" y="5660136"/>
            <a:ext cx="164988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сводки и показатели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0" name="Text 23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1" name="Text 24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10 / 15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РЕШЕНИЕ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АРМ на Excel: минимальная достаточность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433093" y="1508760"/>
            <a:ext cx="7325509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7101" y="1572768"/>
            <a:ext cx="7197493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611880"/>
            <a:ext cx="11057839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Главный экран — навигация по листам и сводка дня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995928"/>
            <a:ext cx="3503066" cy="2295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6928" y="3995928"/>
            <a:ext cx="82296" cy="2295144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" y="4123944"/>
            <a:ext cx="309158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Состав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5528" y="4453128"/>
            <a:ext cx="309158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главный экран + 8 рабочих листов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95528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EAD2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95528" y="4782312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Главный экран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847393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847393" y="4782312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Записи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99258" y="4782312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2899258" y="4782312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Мастера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5528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95528" y="5257800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График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847393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847393" y="5257800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Расходники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899258" y="5257800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899258" y="5257800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Заказы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5528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95528" y="5733288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Обучение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1847393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847393" y="5733288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Отчёты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2899258" y="5733288"/>
            <a:ext cx="942137" cy="365760"/>
          </a:xfrm>
          <a:prstGeom prst="roundRect">
            <a:avLst>
              <a:gd name="adj" fmla="val 15000"/>
            </a:avLst>
          </a:prstGeom>
          <a:solidFill>
            <a:srgbClr val="F3F6FA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2899258" y="5733288"/>
            <a:ext cx="942137" cy="36576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Справочники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344314" y="3995928"/>
            <a:ext cx="3503066" cy="2295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4344314" y="3995928"/>
            <a:ext cx="82296" cy="2295144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914" y="4123944"/>
            <a:ext cx="309158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Технологии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4591202" y="4507992"/>
            <a:ext cx="3045866" cy="1655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Формулы: СЧЁТЕСЛИ, СУММЕСЛИ, ВПР, ИНДЕКС/ПОИСКПОЗ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«Проверка данных» + условное форматирование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Без VBA · Excel 2016+, LibreOffice, Google Sheets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8121701" y="3995928"/>
            <a:ext cx="3503066" cy="2295144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8121701" y="3995928"/>
            <a:ext cx="82296" cy="2295144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8350301" y="4142232"/>
            <a:ext cx="457200" cy="457200"/>
          </a:xfrm>
          <a:prstGeom prst="ellipse">
            <a:avLst/>
          </a:prstGeom>
          <a:solidFill>
            <a:srgbClr val="B08D3E"/>
          </a:solidFill>
        </p:spPr>
        <p:txBody>
          <a:bodyPr/>
          <a:p/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45" y="4265676"/>
            <a:ext cx="210312" cy="21031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8898941" y="4142232"/>
            <a:ext cx="254294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B08D3E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Минимальная достаточность</a:t>
            </a:r>
            <a:endParaRPr lang="en-US" sz="1450" dirty="0"/>
          </a:p>
        </p:txBody>
      </p:sp>
      <p:sp>
        <p:nvSpPr>
          <p:cNvPr id="39" name="Text 35"/>
          <p:cNvSpPr/>
          <p:nvPr/>
        </p:nvSpPr>
        <p:spPr>
          <a:xfrm>
            <a:off x="8368589" y="4672584"/>
            <a:ext cx="3045866" cy="151790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0 ₽ лицензий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внедрение за дни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окупаемость ≈ 3 мес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переносимо в облачную CRM при росте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11 / 15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ПРОТОТИП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Экранные формы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51196" cy="1582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" name="Image 0" descr="/Users/m/Documents/VKR_Stats/build/img_final/image1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5323180" cy="1454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072488"/>
            <a:ext cx="53231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Главный экран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502256"/>
            <a:ext cx="5451196" cy="160164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9" name="Image 1" descr="/Users/m/Documents/VKR_Stats/build/img_final/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66264"/>
            <a:ext cx="5323180" cy="14736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085611"/>
            <a:ext cx="53231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Расходники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37580" y="1508760"/>
            <a:ext cx="5451196" cy="1371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2" name="Image 2" descr="/Users/m/Documents/VKR_Stats/build/img_final/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8" y="1572768"/>
            <a:ext cx="5323180" cy="124309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01588" y="2861585"/>
            <a:ext cx="53231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Записи клиентов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907225" y="3291353"/>
            <a:ext cx="4111904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5" name="Image 3" descr="/Users/m/Documents/VKR_Stats/build/img_final/image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1233" y="3355361"/>
            <a:ext cx="3983888" cy="17830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01588" y="5184161"/>
            <a:ext cx="53231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Отчёты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66928" y="5650992"/>
            <a:ext cx="1105783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8" name="Shape 12"/>
          <p:cNvSpPr/>
          <p:nvPr/>
        </p:nvSpPr>
        <p:spPr>
          <a:xfrm>
            <a:off x="566928" y="5650992"/>
            <a:ext cx="82296" cy="45720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795528" y="5650992"/>
            <a:ext cx="10646359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Ещё 5 листов:  </a:t>
            </a:r>
            <a:r>
              <a:rPr lang="en-US" sz="13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Мастера · График · Заказы · Обучение · Справочники — на единых справочниках и формулах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12 / 15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ОЦЕНКА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Риски и экономический эффект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1264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572768"/>
            <a:ext cx="82296" cy="457200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810512"/>
            <a:ext cx="548640" cy="54864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58645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1810512"/>
            <a:ext cx="49834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Управление рисками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7824" y="2532888"/>
            <a:ext cx="5577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Оценка: вероятность × влияние, матрица 3×3 (PMBoK)</a:t>
            </a:r>
            <a:endParaRPr lang="en-US" sz="150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5 категорий источников риска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Защита персональных данных по 152-ФЗ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7824" y="3950208"/>
            <a:ext cx="55778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4 стратегии реагирования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77824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77824" y="4288536"/>
            <a:ext cx="1280160" cy="50292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Избегание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286000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286000" y="4288536"/>
            <a:ext cx="1280160" cy="50292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Снижение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694176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3694176" y="4288536"/>
            <a:ext cx="1280160" cy="50292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Передача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102352" y="428853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9525">
            <a:solidFill>
              <a:srgbClr val="D5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102352" y="4288536"/>
            <a:ext cx="1280160" cy="502920"/>
          </a:xfrm>
          <a:prstGeom prst="rect">
            <a:avLst/>
          </a:prstGeom>
          <a:noFill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Принятие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77824" y="5093208"/>
            <a:ext cx="557784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33598A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Риски управляемы и не требуют дополнительных вложений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13448" y="1572768"/>
            <a:ext cx="4611319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013448" y="1572768"/>
            <a:ext cx="82296" cy="1426464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7251192" y="1773936"/>
            <a:ext cx="438912" cy="438912"/>
          </a:xfrm>
          <a:prstGeom prst="ellipse">
            <a:avLst/>
          </a:prstGeom>
          <a:solidFill>
            <a:srgbClr val="33598A"/>
          </a:solidFill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698" y="1892442"/>
            <a:ext cx="201900" cy="20190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818120" y="1737360"/>
            <a:ext cx="3651199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Затраты на разработку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7242048" y="2121408"/>
            <a:ext cx="4154119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3598A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24 000 ₽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242048" y="2724912"/>
            <a:ext cx="4154119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80 ч × 300 ₽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013448" y="3145536"/>
            <a:ext cx="4611319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7013448" y="3145536"/>
            <a:ext cx="82296" cy="1426464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30" name="Shape 26"/>
          <p:cNvSpPr/>
          <p:nvPr/>
        </p:nvSpPr>
        <p:spPr>
          <a:xfrm>
            <a:off x="7251192" y="3346704"/>
            <a:ext cx="438912" cy="438912"/>
          </a:xfrm>
          <a:prstGeom prst="ellipse">
            <a:avLst/>
          </a:prstGeom>
          <a:solidFill>
            <a:srgbClr val="33598A"/>
          </a:solidFill>
        </p:spPr>
        <p:txBody>
          <a:bodyPr/>
          <a:p/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698" y="3465210"/>
            <a:ext cx="201900" cy="20190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818120" y="3310128"/>
            <a:ext cx="3651199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Экономия времени</a:t>
            </a:r>
            <a:endParaRPr lang="en-US" sz="1350" dirty="0"/>
          </a:p>
        </p:txBody>
      </p:sp>
      <p:sp>
        <p:nvSpPr>
          <p:cNvPr id="33" name="Text 28"/>
          <p:cNvSpPr/>
          <p:nvPr/>
        </p:nvSpPr>
        <p:spPr>
          <a:xfrm>
            <a:off x="7242048" y="3694176"/>
            <a:ext cx="4154119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3598A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27 ч / мес</a:t>
            </a:r>
            <a:endParaRPr lang="en-US" sz="3000" dirty="0"/>
          </a:p>
        </p:txBody>
      </p:sp>
      <p:sp>
        <p:nvSpPr>
          <p:cNvPr id="34" name="Text 29"/>
          <p:cNvSpPr/>
          <p:nvPr/>
        </p:nvSpPr>
        <p:spPr>
          <a:xfrm>
            <a:off x="7242048" y="4297680"/>
            <a:ext cx="4154119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≈ 8 100 ₽/мес · ≈ 97 200 ₽/год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013448" y="4718304"/>
            <a:ext cx="4611319" cy="1426464"/>
          </a:xfrm>
          <a:prstGeom prst="rect">
            <a:avLst/>
          </a:prstGeom>
          <a:solidFill>
            <a:srgbClr val="FBF7EE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6" name="Shape 31"/>
          <p:cNvSpPr/>
          <p:nvPr/>
        </p:nvSpPr>
        <p:spPr>
          <a:xfrm>
            <a:off x="7013448" y="4718304"/>
            <a:ext cx="82296" cy="1426464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7" name="Shape 32"/>
          <p:cNvSpPr/>
          <p:nvPr/>
        </p:nvSpPr>
        <p:spPr>
          <a:xfrm>
            <a:off x="7251192" y="4919472"/>
            <a:ext cx="438912" cy="438912"/>
          </a:xfrm>
          <a:prstGeom prst="ellipse">
            <a:avLst/>
          </a:prstGeom>
          <a:solidFill>
            <a:srgbClr val="B08D3E"/>
          </a:solidFill>
        </p:spPr>
        <p:txBody>
          <a:bodyPr/>
          <a:p/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698" y="5037978"/>
            <a:ext cx="201900" cy="20190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818120" y="4882896"/>
            <a:ext cx="3651199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Окупаемость</a:t>
            </a:r>
            <a:endParaRPr lang="en-US" sz="1350" dirty="0"/>
          </a:p>
        </p:txBody>
      </p:sp>
      <p:sp>
        <p:nvSpPr>
          <p:cNvPr id="40" name="Text 34"/>
          <p:cNvSpPr/>
          <p:nvPr/>
        </p:nvSpPr>
        <p:spPr>
          <a:xfrm>
            <a:off x="7242048" y="5266944"/>
            <a:ext cx="4154119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B08D3E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≈ 3 месяца</a:t>
            </a:r>
            <a:endParaRPr lang="en-US" sz="3600" dirty="0"/>
          </a:p>
        </p:txBody>
      </p:sp>
      <p:sp>
        <p:nvSpPr>
          <p:cNvPr id="41" name="Text 35"/>
          <p:cNvSpPr/>
          <p:nvPr/>
        </p:nvSpPr>
        <p:spPr>
          <a:xfrm>
            <a:off x="7242048" y="5870448"/>
            <a:ext cx="4154119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проект окупается за один квартал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43" name="Text 37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13 / 15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48056"/>
            <a:ext cx="155448" cy="155448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384048"/>
            <a:ext cx="10783519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ЗАКЛЮЧЕНИЕ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694944"/>
            <a:ext cx="11057839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Итоги и развитие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11057839" cy="914400"/>
          </a:xfrm>
          <a:prstGeom prst="rect">
            <a:avLst/>
          </a:prstGeom>
          <a:solidFill>
            <a:srgbClr val="EEF6F1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6928" y="1627632"/>
            <a:ext cx="82296" cy="914400"/>
          </a:xfrm>
          <a:prstGeom prst="rect">
            <a:avLst/>
          </a:prstGeom>
          <a:solidFill>
            <a:srgbClr val="2E7D5B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1792224"/>
            <a:ext cx="566928" cy="566928"/>
          </a:xfrm>
          <a:prstGeom prst="ellipse">
            <a:avLst/>
          </a:prstGeom>
          <a:solidFill>
            <a:srgbClr val="2E7D5B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319" y="1945295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1627632"/>
            <a:ext cx="9869119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5B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Цель достигнута.  </a:t>
            </a: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Спроектирован АРМ менеджера салона: модели процессов, структура данных, формы и работающий Excel-прототип.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2724912"/>
            <a:ext cx="1105783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66928" y="2724912"/>
            <a:ext cx="82296" cy="914400"/>
          </a:xfrm>
          <a:prstGeom prst="rect">
            <a:avLst/>
          </a:prstGeom>
          <a:solidFill>
            <a:srgbClr val="1E3A5F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2724912"/>
            <a:ext cx="10600639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Вывод.  </a:t>
            </a:r>
            <a:r>
              <a:rPr lang="en-US" sz="1600" dirty="0">
                <a:solidFill>
                  <a:srgbClr val="23303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Автоматизация рабочего места в малом салоне достижима без дорогой CRM — на доступных инструментах и с окупаемостью около трёх месяцев.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66928" y="3886200"/>
            <a:ext cx="11057839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B08D3E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НАПРАВЛЕНИЯ РАЗВИТИЯ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566928" y="4251960"/>
            <a:ext cx="82296" cy="169164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480528" y="4544568"/>
            <a:ext cx="731520" cy="73152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038" y="4742078"/>
            <a:ext cx="336499" cy="336499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76656" y="5394960"/>
            <a:ext cx="2339264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Формы ввода данных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339996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3399968" y="4251960"/>
            <a:ext cx="82296" cy="169164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313568" y="4544568"/>
            <a:ext cx="731520" cy="73152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78" y="4742078"/>
            <a:ext cx="336499" cy="33649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509696" y="5394960"/>
            <a:ext cx="2339264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Автоуведомления клиентам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6233008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233008" y="4251960"/>
            <a:ext cx="82296" cy="169164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7146607" y="4544568"/>
            <a:ext cx="731520" cy="73152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4118" y="4742078"/>
            <a:ext cx="336499" cy="336499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342736" y="5394960"/>
            <a:ext cx="2339264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Перенос в облако / CRM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9066047" y="4251960"/>
            <a:ext cx="2558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9"/>
            </a:solidFill>
            <a:prstDash val="solid"/>
          </a:ln>
          <a:effectLst>
            <a:outerShdw blurRad="101600" dist="38100" dir="5400000" algn="bl" rotWithShape="0">
              <a:srgbClr val="8499B5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066047" y="4251960"/>
            <a:ext cx="82296" cy="1691640"/>
          </a:xfrm>
          <a:prstGeom prst="rect">
            <a:avLst/>
          </a:prstGeom>
          <a:solidFill>
            <a:srgbClr val="33598A"/>
          </a:solidFill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9979647" y="4544568"/>
            <a:ext cx="731520" cy="731520"/>
          </a:xfrm>
          <a:prstGeom prst="ellipse">
            <a:avLst/>
          </a:prstGeom>
          <a:solidFill>
            <a:srgbClr val="1E3A5F"/>
          </a:solidFill>
        </p:spPr>
        <p:txBody>
          <a:bodyPr/>
          <a:p/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7158" y="4742078"/>
            <a:ext cx="336499" cy="33649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175775" y="5394960"/>
            <a:ext cx="2339264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E3A5F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Онлайн-запись</a:t>
            </a:r>
            <a:endParaRPr lang="en-US" sz="1450" dirty="0"/>
          </a:p>
        </p:txBody>
      </p:sp>
      <p:sp>
        <p:nvSpPr>
          <p:cNvPr id="34" name="Shape 27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0E6EE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566928" y="6464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АРМ менеджера салона красоты  ·  ВСГУТУ  ·  Улан-Удэ, 2026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9795967" y="646480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57384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14 / 15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ln w="12700">
            <a:solidFill>
              <a:srgbClr val="3A4D6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rgbClr val="B08D3E"/>
          </a:solidFill>
        </p:spPr>
        <p:txBody>
          <a:bodyPr/>
          <a:p/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5536" y="207568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T Serif" panose="020A0603040505020204" pitchFamily="34" charset="0"/>
                <a:ea typeface="PT Serif" panose="020A0603040505020204" pitchFamily="34" charset="-122"/>
                <a:cs typeface="PT Serif" panose="020A0603040505020204" pitchFamily="34" charset="-120"/>
              </a:rPr>
              <a:t>Спасибо за внимание!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547208" y="3977640"/>
            <a:ext cx="1097280" cy="27432"/>
          </a:xfrm>
          <a:prstGeom prst="rect">
            <a:avLst/>
          </a:prstGeom>
          <a:solidFill>
            <a:srgbClr val="B08D3E"/>
          </a:solidFill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6D6EC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Готов(а) ответить на вопросы комиссии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0" y="5943600"/>
            <a:ext cx="12191695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2A4C0"/>
                </a:solidFill>
                <a:latin typeface="PT Sans" panose="020B0503020203020204" pitchFamily="34" charset="0"/>
                <a:ea typeface="PT Sans" panose="020B0503020203020204" pitchFamily="34" charset="-122"/>
                <a:cs typeface="PT Sans" panose="020B0503020203020204" pitchFamily="34" charset="-120"/>
              </a:rPr>
              <a:t>Проектирование АРМ менеджера салона красоты · ВСГУТУ · Улан-Удэ,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5018</Words>
  <Application>WPS Docs</Application>
  <PresentationFormat>On-screen Show (16:9)</PresentationFormat>
  <Paragraphs>345</Paragraphs>
  <Slides>15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Arial</vt:lpstr>
      <vt:lpstr>SimSun</vt:lpstr>
      <vt:lpstr>Wingdings</vt:lpstr>
      <vt:lpstr>PT Sans</vt:lpstr>
      <vt:lpstr>PT Sans</vt:lpstr>
      <vt:lpstr>PT Sans</vt:lpstr>
      <vt:lpstr>PT Serif</vt:lpstr>
      <vt:lpstr>PT Serif</vt:lpstr>
      <vt:lpstr>PT Serif</vt:lpstr>
      <vt:lpstr>Calibri</vt:lpstr>
      <vt:lpstr>Helvetica Neue</vt:lpstr>
      <vt:lpstr>Microsoft YaHei</vt:lpstr>
      <vt:lpstr>汉仪旗黑</vt:lpstr>
      <vt:lpstr>Arial Unicode MS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АРМ менеджера салона красоты — защита ВКР</dc:title>
  <dc:creator>ВСГУТУ</dc:creator>
  <dc:subject>PptxGenJS Presentation</dc:subject>
  <cp:lastModifiedBy>Антон Иванов</cp:lastModifiedBy>
  <cp:revision>2</cp:revision>
  <dcterms:created xsi:type="dcterms:W3CDTF">2026-05-25T17:30:57Z</dcterms:created>
  <dcterms:modified xsi:type="dcterms:W3CDTF">2026-05-25T17:30:57Z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432BF2DF0097455B5187146AFCBF6D9D_42</vt:lpwstr>
  </property>
  <property fmtid="{D5CDD505-2E9C-101B-9397-08002B2CF9AE}" pid="3" name="KSOProductBuildVer">
    <vt:lpwstr>1033-12.1.25897.25897</vt:lpwstr>
  </property>
</Properties>
</file>